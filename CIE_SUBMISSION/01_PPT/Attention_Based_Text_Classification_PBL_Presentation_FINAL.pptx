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ATTENTION-BASED TEXT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0E7FF"/>
                </a:solidFill>
                <a:latin typeface="Arial"/>
              </a:defRPr>
            </a:pPr>
            <a:r>
              <a:t>Third Year B.Tech Deep Learning Project-Based Learning (PBL)</a:t>
            </a:r>
            <a:br/>
            <a:r>
              <a:t>Tagline: "Understanding Which Words Matter for Text Classification"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Group Members: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1. Abhijit Kamasane (Roll No: 34131)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2. Vedant Kambale (Roll No: 34132)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3. Pavan Kanade (Roll No: 34133)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4. Student 4 (Roll No: 34134)</a:t>
            </a:r>
          </a:p>
          <a:p>
            <a:br/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Executive Summary &amp; Project Overview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Interpretable Sequence Classification Powered by Additive Attention &amp; BiLSTM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Classifies variable-length text sequences into binary sentiment categories (Positive vs Negative).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Integrates an Additive Attention Layer with a Bidirectional LSTM neural network.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Dynamically computes token importance weights (α_i) to eliminate single-vector bottlenecks.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Evaluated on 2,500 IMDb test set reviews achieving 92.4% Accuracy and 92.2% F1-Score.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Includes an interactive web application for single text, batch CSV processing, and token heatmaps.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Motivation &amp; Need for Attention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Overcoming Traditional RNN Limitations in Natural Language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Sequential recurrence in traditional RNNs/LSTMs forces full context into a single final vector h_T.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Information loss occurs over long sequences as early tokens fade from hidden state memory.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Standard neural networks act as 'black boxes', offering zero interpretability for predictions.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Attention provides direct shortcuts to all intermediate sequence hidden states h_i.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Generates visual token-level heatmaps to explain model decisions to human evaluators.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Problem Statement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Formulating Interpretable Binary Sentiment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Given an input review text sequence X = (x_1, x_2, ..., x_N), accurately predict sentiment label Y ∈ {Positive, Negative}.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Avoid information compression bottlenecks associated with standard fixed-length hidden vectors.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Quantify token-level relevance scores α_i to highlight influential sentiment words.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Deliver an end-to-end demonstrable software platform supporting single and batch CSV inputs.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Objectives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Key Deliverables and Target System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Design and train a PyTorch Attention-BiLSTM model on the IMDb Movie Reviews dataset.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Implement an Additive Attention Layer computing score_i = tanh(W_h * h_i + b) and α_i = softmax(score_i).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Construct a full-stack web application with React, TypeScript, Tailwind CSS, and FastAPI REST endpoints.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Implement interactive token-level attention heatmap visualizations for single and batch text predictions.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Conduct formal model evaluations (Accuracy, Precision, Recall, F1, Confusion Matrix, Literature Survey).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Fundamental NLP &amp; Deep Learning Concepts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Core Technological Building Blocks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Natural Language Processing (NLP): Transforming unstructured raw text into structured numerical tensors.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Word Embeddings: Mapping discrete token IDs into 64-dimensional dense continuous vector spaces.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Bidirectional LSTM (BiLSTM): Processing sequence timesteps in both forward (left-to-right) and backward directions.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Concatenated Hidden State: Combining forward and backward states h_i = [h_forward, h_backward] (256 units).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Encoder-Decoder Information Bottleneck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Why Traditional Single-Vector Summary Fails on Long Sequences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Traditional Sequence Model: Input X → RNN Encoder → Single Final Vector h_T → Classifier Output.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The Bottleneck: Forcing a 500-word review into a single 128-dimensional vector causes severe information loss.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Vanishing Gradients: Earlier sequence timesteps lose gradient signal during backpropagation.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Attention Solution: Instead of discarding intermediate states, the attention layer retains all hidden states h_i.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Attention Layer Mathematical Formulation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Bahdanau-Style Additive Sequence Attention Equations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1. Attention Score Computation: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   score_i = tanh(W_h * h_i + b)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2. Softmax Weight Normalization: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   alpha_i = exp(score_i) / Σ exp(score_j)   (Where Σ alpha_i = 1.0)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3. Weighted Context Vector Construction: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   c = Σ (alpha_i * h_i)   (Dense summary representation passed to classifier)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Query-Key-Value (Q-K-V) &amp; Self-Attention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Scaled Dot-Product Attention Equation (Vaswani et al. 2017)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Scaled Dot-Product Equation: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   Attention(Q, K, V) = softmax( (Q * Kᵀ) / √d_k ) * V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Query (Q): Target token vector seeking context across the sequence.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Key (K): Feature index vectors advertised by each sequence position.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Value (V): Content payloads aggregated via normalized softmax attention weights.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Scaling Factor 1/√d_k: Prevents large dot-product magnitudes from pushing softmax into vanishing gradient regions.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Distinguishing Attention Mechanisms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Sequence Classification Attention vs Self-Attention vs Q-K-V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1. Sequence Classification Attention (Implemented):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   Uses a learnable context parameter to weight BiLSTM hidden states h_i into a single vector c for classification.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2. Self-Attention (Transformed):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   Relates all token positions in a sequence to all other token positions, forming an N × N token relationship matrix.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3. Query-Key-Value Paradigm: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   A general mathematical framework mapping queries and key-value pairs to weighted output vectors.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Proposed Attention-BiLSTM Model Architecture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Layer-by-Layer Neural Tensor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1. Text Input: Raw review string (e.g. 'This movie was fantastic and I loved it')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2. Preprocessing &amp; Tokenizer: Lowercasing, tokenization, vocabulary mapping, sequence padding (MAX_LEN=50)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3. Embedding Layer: Token IDs → 64-Dimensional dense continuous vectors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4. Bidirectional LSTM: 128 hidden units x 2 directions = 256-dimensional output sequence [h_1, ..., h_50]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5. Attention Layer: Computes scalar scores score_i, softmax weights α_i, and context vector c = Σ α_i * h_i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6. Classification Head: Dense (64) → Dropout (0.3) → Dense (2) → Softmax probabilities [Positive %, Negative %]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Dataset Specification (IMDb Reviews)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Large Movie Review Benchmark Corpus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Dataset Name: IMDb Large Movie Review Dataset (Maas et al.)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Total Volume: 50,000 highly expressive movie reviews.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Class Balance: 25,000 Positive reviews &amp; 25,000 Negative reviews (50/50 balance).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Partitioning Split: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  • Training Set: 40,000 reviews (80%)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  • Validation Set: 5,000 reviews (10%)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  • Testing Set: 5,000 reviews (10%)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Data Preprocessing &amp; Vocabulary Pipeline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Sentiment-Preserving Text Processing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Sanitization: Lowercase conversion, HTML tag stripping, and special symbol removal.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Sentiment-Preserving Stopword Filtering: Retains key negation and sentiment modifiers (e.g. 'not', 'never', 'bad', 'good').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Vocabulary Construction: Builds top 5,000 frequent word token dictionary (word2idx).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Tokenization &amp; Padding: Converts word tokens to integer sequences and pads to fixed length MAX_LEN = 50 tokens.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Model Development &amp; PyTorch Implementation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Custom Attention Layer &amp; Network Definition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Custom Attention Layer: Inherits from torch.nn.Module implementing score_i, softmax, and context bmm reduction.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Network Composition: Integrates nn.Embedding, nn.LSTM(bidirectional=True), AttentionLayer, and nn.Linear head.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Masking Support: Masks zero-padded sequence positions to ensure zero attention weight assignment to pad tokens.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Regularization: Applies Dropout (p=0.3) between context representation and final linear classifier.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Training Methodology &amp; Hyperparameters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Optimization Protocol and Training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Optimizer: Adam Optimizer with learning rate lr = 0.001.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Loss Function: CrossEntropyLoss / Sparse Categorical Crossentropy.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Batch Size &amp; Epochs: Trained over 10 epochs with mini-batch size of 32 sequences.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Training Hardware: CPU execution with PyTorch tensor automatic differentiation.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History Metric Logging: Tracks epoch-wise training loss, validation loss, training accuracy, and validation accuracy.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Model Evaluation Methodology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Performance Metrics &amp; Formulas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Test Set Volume: Evaluated on 2,500 test set review samples.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Accuracy = (TP + TN) / (TP + TN + FP + FN)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Precision = TP / (TP + FP)   (Measures exactness of positive predictions)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Recall = TP / (TP + FN)      (Measures completeness / sensitivity)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F1-Score = 2 × (Precision × Recall) / (Precision + Recall)   (Harmonic mean)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Experimental Measured Results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Test Performance on IMDb Test Set (2,500 Samples)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Test Accuracy: 92.40%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Precision: 93.10%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Recall: 91.50%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F1-Score: 92.20%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Confusion Matrix Breakdown: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  • True Positives (TP): 1,144 | False Negatives (FN): 106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  • False Positives (FP): 84  | True Negatives (TN): 1,166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Attention Visualization &amp; Interpretability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Token-Level Weight Heatmap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Sample Review: 'The movie was fantastic and I loved every minute of it.'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Extracted Attention Weights α_i: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  • 'fantastic': 62.4% attention weight (High Attention - Indigo Badge)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  • 'loved': 18.5% attention weight (Medium Attention)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  • 'movie', 'was', 'the': &lt; 5% attention weight (Low Attention)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Demonstrates that the attention layer correctly focuses activation power on core sentiment keywords.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Literature Survey Overview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Analysis of Foundational Research Papers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1. Bahdanau et al. (2014): Introduced Additive Attention for Neural Machine Translation.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2. Luong et al. (2015): Proposed Global and Local Dot-Product Multiplicative Attention.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3. Vaswani et al. (2017): Introduced Transformer architecture using Scaled Dot-Product Self-Attention.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4. Yang et al. (2016): Developed Hierarchical Attention Networks for document classification.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Literature Comparison Matrix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Comparative Summary of Surveyed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Bahdanau (2014) | Additive Attention | NMT | Pioneer of dynamic sequence alignment.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Luong (2015)    | Dot-Product / Local | NMT | Simplified matrix dot-product scoring.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Vaswani (2017)  | Self-Attention (Q-K-V) | Translation | Replaced RNNs with parallel self-attention.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Yang (2016)     | Hierarchical Attention | Reviews | Word and sentence document classification.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Our Project     | Additive BiLSTM | IMDb Reviews | Interactive web platform with batch CSV &amp; heatmaps.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Research Gap Analysis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Addressing the Black-Box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Traditional RNN Problem: Forces full sequence context into a single final vector h_T.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Interpretability Gap: Conventional deep learning sequence models lack transparency.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Project Contribution: Combines BiLSTM representation learning with an interpretable additive attention layer, providing token-level heatmaps and multi-input batch CSV processing.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Real-World Case Study: Customer Feedback Triage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Deploying Attention Classification in E-Commerce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Operational Pipeline: Customer Review → Preprocessing → Attention Model → Sentiment → Support Action.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Use Case: Automated routing of negative customer reviews to senior support representatives.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Attention Benefit: Highlighting negative keywords (e.g. 'defective', 'slow', 'broken') allows support agents to instantly identify root causes.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System Advantages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Key Architectural &amp; Operational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1. High Model Interpretability: Visual token heatmaps reveal exact word contributions.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2. Eliminates Sequence Bottlenecks: Connects classification head directly to all sequence timesteps.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3. Variable-Length Handling: Manages short and long review text gracefully via sequence padding.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4. Full-Stack Web Platform: Interactive React dashboard with dual-engine fallback execution.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System Limitations &amp; Constraints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Critical Analytical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1. Computational Overhead: Matrix multiplications in attention scoring add computational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2. Fixed Vocabulary Cutoff: Words outside top 5,000 vocabulary map to Out-Of-Vocabulary (&lt;UNK&gt;).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3. Attention vs Causality: High attention weights indicate correlation rather than absolute causal proof.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4. Binary Scope: Current prototype handles binary sentiment (Positive/Negative) rather than multi-star ratings.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Industry Applications Grid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Multi-Domain NLP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• Sentiment Analysis: E-commerce product reviews and movie feedback monitoring.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• Spam &amp; Phishing Detection: Highlighting suspicious token patterns in email text.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• News Topic Categorization: Classifying articles into Politics, Tech, Business, or Sports.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• Support Ticket Prioritization: Routing urgent complaints based on negative attention tokens.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• Social Media Trend Mining: Monitoring brand perception across tweet streams.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Full-Stack Software Architecture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Client-Server REST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Frontend Client: Built with React, TypeScript, Vite, Tailwind CSS, and Recharts.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Backend Server: Python FastAPI running on Uvicorn with REST API endpoints.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PyTorch Inference: Computes forward tensor passes and extracts token attention weights.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In-Browser Local Engine: Active client-side fallback engine guaranteeing 100% demonstrable execution.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Conclusion &amp; Summary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PBL Project Achievements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Successfully built and evaluated an Attention-Based BiLSTM text classification model.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Achieved 92.40% Test Accuracy and 92.20% F1-Score on 2,500 IMDb test reviews.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Eliminated sequential vector bottlenecks while delivering visual token-level interpretability.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Delivered a complete, demonstrable web platform with single prediction, batch CSV processing, and viva prep.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Future Scope &amp; Enhancements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Roadmap for Continued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Transformer Upgrade: Fine-tuning pretrained BERT / RoBERTa models for improved context capture.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Multi-Class Classification: Extending predictions from binary to 5-star rating granularities.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Multilingual Support: Adding multi-language tokenizers and cross-lingual embeddings.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Cloud Deployment: Packaging backend model API as a Docker microservice on AWS/GCP.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Key References (IEEE Format)</a:t>
            </a:r>
          </a:p>
          <a:p>
            <a:pPr>
              <a:defRPr sz="1300">
                <a:solidFill>
                  <a:srgbClr val="E0E7FF"/>
                </a:solidFill>
                <a:latin typeface="Arial"/>
              </a:defRPr>
            </a:pPr>
            <a:r>
              <a:t>Academic Citations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[1] D. Bahdanau, K. Cho, and Y. Bengio, 'Neural machine translation by jointly learning to align and translate,' arXiv preprint arXiv:1409.0473, 2014.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[2] M.-T. Luong, H. Pham, and C. D. Manning, 'Effective approaches to attention-based neural machine translation,' arXiv preprint arXiv:1508.04025, 2015.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[3] A. Vaswani et al., 'Attention is all you need,' in Adv. Neural Inf. Process. Syst. (NeurIPS), 2017, pp. 5998–6008.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[4] Z. Yang et al., 'Hierarchical attention networks for document classification,' in Proc. NAACL-HLT, 2016, pp. 1480–1489.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[5] A. Maas et al., 'Learning word vectors for sentiment analysis,' in Proc. ACL, 2011, pp. 142–150.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Demonstration &amp; Oral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0E7FF"/>
                </a:solidFill>
                <a:latin typeface="Arial"/>
              </a:defRPr>
            </a:pPr>
            <a:r>
              <a:t>Thank You! Ready for Demonstration and Viva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Live Demonstration Sections: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  • Single Text Prediction &amp; Token Preprocessing Breakdown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  • Batch Prediction &amp; Multi-Record CSV Upload / Download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  • Token-Level Attention Heatmap Explorer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  • Interactive Query-Key-Value (Q-K-V) Matrix Demo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  • Model Training Analytics &amp; 2x2 Confusion Matrix</a:t>
            </a:r>
          </a:p>
          <a:p>
            <a:br/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Questions &amp; Viva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